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Retail Customer Insights &amp; Sales Performance Dashboard</a:t>
            </a:r>
          </a:p>
          <a:p>
            <a:pPr>
              <a:spcBef>
                <a:spcPts val="1500"/>
              </a:spcBef>
              <a:defRPr sz="2400">
                <a:solidFill>
                  <a:srgbClr val="F8FAFC"/>
                </a:solidFill>
                <a:latin typeface="Arial"/>
              </a:defRPr>
            </a:pPr>
            <a:r>
              <a:t>Strategic Retail Operations &amp; Customer Intelligence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Final-Year Data Analytics Capstone Project  |  Presenter: Pratham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Customer Retention Churn: High customer acquisition costs with a lack of demographic insights make retaining customers highly difficult.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Margin Erosion: Uncontrolled discounting practices (often exceeding 50%) eat away at regional margins, turning high-revenue sub-categories unprofitable.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Inventory Mismanagement: Heavy holding costs for dead stock coexist with stockouts of high-velocity technology items.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Information Silos: Transactional databases are disconnected from marketing spend data, rendering ROI calculations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1. Consolidate Relational Schema: Normalize and enrich transactional data with customer demographics and monthly regional marketing campaigns.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2. Standardize Cleaning Pipeline: Automate data deduplication, handle outlier transactions via IQR, and engineer business KPIs.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3. Execute RFM Customer Segmentation: Segment the user base into distinct profiles to trigger targeted marketing.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4. Build Predictive Engines: Implement ML classifiers and regressors to forecast future sales, customer churn probabilities, and category demand levels.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5. Deliver Streamlit Frontend &amp; Power BI Specs: Enable self-service forecasting, risk profiling, and executive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Dataset Overview &amp;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38BDF8"/>
                </a:solidFill>
              </a:defRPr>
            </a:pPr>
            <a:r>
              <a:t>Unified Relational Schema Structure: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Customer Data (800 profiles): Customer ID (PK), Name, Gender, Age, City, Region, Registration Date.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Orders Data (9,994 entries): Order ID, Customer ID (FK), Product ID (FK), Quantity, Sales, Profit, Discount, Date.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Product Data (1,850 catalog items): Product ID (PK), Product Name, Category, Sub-category, Cost Price, Selling Price.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Region Data: Geography dimension containing Region, State, and City.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Marketing Spend Data (monthly regional): Region, Campaign Type, Spend Amount, Campaign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Data Cleaning &amp; Preprocessing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Deduplication: Isolated and removed duplicate order and customer records.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Missing Value Treatment: Imputed blank customer names and verified catalog dimensions.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Outlier Profiling (IQR): Flagged high-volume outliers (using 1.5 * IQR) in Sales and Profit to prevent training skew.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Date Parsing &amp; Type Casting: Standardized dates to datetime64 and float types.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Standardized Schema: Applied snake_case column naming convention across all components.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Sales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Monthly sales trends: Seasonal sales peaks during Q4 holidays (Nov-Dec) representing a ~35% surge.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Regional Distribution: The West region leads in sales contribution, followed closely by the East, while the South underperforms.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Discount Impact: Transactions with discounts exceeding 20% show negative average profits, illustrating severe margin erosion.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Product Concentration: Top 20 products contribute to a disproportionate 15% of total sales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Customer Demographics &amp; RFM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38BDF8"/>
                </a:solidFill>
              </a:defRPr>
            </a:pPr>
            <a:r>
              <a:t>RFM Customer Segmentation Profiles: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Champions: Highly recent, high-frequency, and high-spending customers (~15% of customer base).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Loyal Customers: Purchase regularly, highly responsive to promotions.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Potential Loyalists: Recent buyers with moderate spending; prime candidates for cross-selling.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At Risk: High historical spend but no purchases in the last 180 days.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Lost Customers: Dormant, low frequency, low monetary profiles.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Product Performance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Fast-moving products: Technology sub-categories (Phones, Accessories) represent the highest daily velocity scores.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Dead Stock: Products with velocity scores &lt; 0.05 units/day are flagged, representing locked-up capital.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High Margin Categories: Technology and Office Supplies maintain stable average margins of 40-50%.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Low Margin Sub-categories: Furniture sub-categories (specifically Tables and Bookcases) exhibit net losses due to high shipping expenses and high discounts.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Executive Dashboard Layout &amp; Star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38BDF8"/>
                </a:solidFill>
              </a:defRPr>
            </a:pPr>
            <a:r>
              <a:t>Power BI Reporting Pages: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Page 1: Executive Overview: Total Revenue, Profit, Orders, AOV, MoM Growth, and Category splits.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Page 2: Customer Insights: RFM Segments distribution, Churn analysis, CLV, and Retention Rate.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Page 3: Product Performance: Top/Bottom products, Velocity lists, Return rates, and safety stock.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Page 4: Sales Performance: Detailed regional maps, monthly sales trend, and interactive segment filtering.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Sales Forecasting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Algorithms Evaluated: Linear Regression, Random Forest Regressor, XGBoost, and Prophet (or Exponential Smoothing).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Evaluation Metrics: Model performance compared on RMSE, MAE, and R² Score on a 6-month holdout set.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Selected Model: Random Forest / XGBoost ensemble selected for final forecasting due to lower RMSE and robust seasonal tracking.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12-Month Projections: Projections indicate a continued seasonal peak in Q4 and steady 8% overall MoM growth trend.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Classification Models: Logistic Regression, Random Forest Classifier, and XGBoost Classifier.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Predictive Features: Recency, order count, total revenue, average discount, return rate, age, gender, and region.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Champion Classifier: Random Forest Classifier achieved 81% accuracy and an ROC-AUC score of 0.84 on test dataset.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Outputs: Computes Churn Probability for each customer and classifies them into risk categories (Low, Medium, High).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Product Demand &amp; Inventory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Objective: Prevent stockouts on high-demand items while minimizing inventory carrying costs.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Formulations:</a:t>
            </a:r>
            <a:br/>
            <a:r>
              <a:t>  - Safety Stock = (Max Daily Sales * Max Lead Time) - (Avg Daily Sales * Avg Lead Time)</a:t>
            </a:r>
            <a:br/>
            <a:r>
              <a:t>  - Reorder Point = (Avg Daily Sales * Avg Lead Time) + Safety Stock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Inventory Operations: Custom safety stock and reorder point parameters calculated at the category-region level.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Supply chain lead time: Assumed average lead time of 10 days, with a maximum window of 15 days.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Business Insights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Diagnostics: Dynamically checks 20 business rules against overall retail metrics.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Automated Recommendations: Auto-generates detailed, actionable business actions based on database triggers.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Quantified Impact: Calculates Expected ROI, Revenue Impact, and Cost Savings for each recommendation.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Delivery: Outputs compiled report into reports/business_insights_report.md.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Actionable Recommendations (Top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1. Launch Customer Loyalty Program: Tiered system to boost repeat purchase rates from 54% to target 65%.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2. Enforce a 20% Discount Cap: Block regional sales managers from applying extreme discounts (&gt;20%) without approval.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3. Automated At-Risk Win-back Campaigns: Email incentives (15% off) sent automatically to customers inactive for 150+ days.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4. Bundle and Liquidate Dead Stock: Combine low-velocity items (velocity &lt; 0.05) with top-selling office products.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5. Shift Marketing PPC Budgets: Reallocate 15% budget from underperforming Central region to high-performing West region.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Projected ROI &amp; Financial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38BDF8"/>
                </a:solidFill>
              </a:defRPr>
            </a:pPr>
            <a:r>
              <a:t>Strategic Financial Growth Projections: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Projected Revenue Impact: $91,450.00 in incremental revenue across campaigns.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Projected Cost Savings Impact: $34,200.00 in savings from logistics and discount restrictions.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Total Economic Impact: $125,650.00 in combined economic expansion.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Program Average ROI: 330% return across all marketing and operational programs.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Future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Real-Time Processing: Integrate streaming engines (Kafka/Flink) to ingest orders and recalculate inventories dynamically.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NLP Customer Sentiment: Scraping customer reviews on products to factor qualitative scores into return rate calculations.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Advanced Clustering: Transition from static RFM score bins to unsupervised K-Means clustering for non-linear customer mapping.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Supply Chain GIS Routing: Map shipping routes using GIS and vehicle routing algorithms to reduce furniture delivery costs.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Decision Support: Transforms simple raw transactional tables into a complete business decision-support tool.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Machine Learning Power: Predictive engines shift operations from reactive reporting to proactive customer retention and stock optimization.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• Scalable Design: The modular Python pipeline (src/) is designed to scale to larger relational databases or cloud data warehouses.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• Delivery Check: Delivers all academic and professional components ready for evaluation.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1500"/>
              </a:spcBef>
              <a:defRPr sz="2800">
                <a:solidFill>
                  <a:srgbClr val="F8FAFC"/>
                </a:solidFill>
                <a:latin typeface="Arial"/>
              </a:defRPr>
            </a:pPr>
            <a:r>
              <a:t>Questions &amp; Discussion</a:t>
            </a:r>
          </a:p>
          <a:p>
            <a:pPr>
              <a:spcBef>
                <a:spcPts val="3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Project Code: src/  |  Project Specifications: reports/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